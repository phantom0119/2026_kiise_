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8229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도시 감시 멀티모달 데이터의</a:t>
            </a:r>
          </a:p>
          <a:p>
            <a:pPr algn="l"/>
            <a:r>
              <a:rPr sz="3000" b="1">
                <a:solidFill>
                  <a:srgbClr val="FFFFFF"/>
                </a:solidFill>
              </a:rPr>
              <a:t>저장 · 색인 · 검색 구조 실험 체계</a:t>
            </a:r>
          </a:p>
          <a:p>
            <a:pPr algn="l"/>
            <a:r>
              <a:rPr sz="1700" b="0">
                <a:solidFill>
                  <a:srgbClr val="BFD6EE"/>
                </a:solidFill>
              </a:rPr>
              <a:t>비순환 워크로드 위에서 정확도 · 지연 · 저장을 비교하다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EC4E8"/>
                </a:solidFill>
              </a:rPr>
              <a:t>KIISE DBR 2026 투고 준비   ·  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C4E8"/>
                </a:solidFill>
              </a:rPr>
              <a:t>한 장 요약</a:t>
            </a:r>
          </a:p>
          <a:p>
            <a:pPr algn="l"/>
            <a:r>
              <a:rPr sz="2700" b="1">
                <a:solidFill>
                  <a:srgbClr val="FFFFFF"/>
                </a:solidFill>
              </a:rPr>
              <a:t>새 모델이 아니라 'DB가 증거를 찾는 법'을 연구한다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011680" cy="640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</a:rPr>
              <a:t>•  AI가 답하기 전에, 데이터베이스가 어떤 증거를 어떻게 찾아 줄 것인가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5A5A5A"/>
                </a:solidFill>
              </a:rPr>
              <a:t>–  대상: 도시 감시·교통 CCTV 영상 + 자연어 질의 + 센서·시공간 메타데이터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5A5A5A"/>
                </a:solidFill>
              </a:rPr>
              <a:t>–  비교: 저장 단위 · 색인 구조 · 필터 결합 방식 · 관계형 DB 구현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5A5A5A"/>
                </a:solidFill>
              </a:rPr>
              <a:t>–  평가: 정확도 · 지연시간 · 저장공간, 그리고 VLM 답변까지의 전파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</a:rPr>
              <a:t>•  핵심 기여: 결과를 부풀리는 '순환성'을 먼저 차단한 뒤 구조를 비교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E74B5"/>
                </a:solidFill>
              </a:rPr>
              <a:t>PART 1</a:t>
            </a:r>
          </a:p>
          <a:p>
            <a:pPr algn="l"/>
            <a:r>
              <a:rPr sz="3200" b="1">
                <a:solidFill>
                  <a:srgbClr val="1B2A4A"/>
                </a:solidFill>
              </a:rPr>
              <a:t>연구 배경과 문제 정의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C4E8"/>
                </a:solidFill>
              </a:rPr>
              <a:t>배경</a:t>
            </a:r>
          </a:p>
          <a:p>
            <a:pPr algn="l"/>
            <a:r>
              <a:rPr sz="2700" b="1">
                <a:solidFill>
                  <a:srgbClr val="FFFFFF"/>
                </a:solidFill>
              </a:rPr>
              <a:t>하나의 질의가 세 가지 정보를 함께 써야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011680" cy="640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900" b="1">
                <a:solidFill>
                  <a:srgbClr val="222222"/>
                </a:solidFill>
              </a:rPr>
              <a:t>•  관제 질의 예: "오전에 도로변에 주차된 차가 있는 클립"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5A5A5A"/>
                </a:solidFill>
              </a:rPr>
              <a:t>–  영상/프레임 — CCTV 장면 자체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5A5A5A"/>
                </a:solidFill>
              </a:rPr>
              <a:t>–  텍스트 — 장면을 서술한 캡션(사건 설명)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5A5A5A"/>
                </a:solidFill>
              </a:rPr>
              <a:t>–  메타데이터 — 시간·위치·신호·차량밀도 (센서 기록)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</a:rPr>
              <a:t>•  → 이 조합 위에서 VLM이 답하려면 DB가 먼저 올바른 증거를 찾아야 한다</a:t>
            </a:r>
          </a:p>
        </p:txBody>
      </p:sp>
      <p:pic>
        <p:nvPicPr>
          <p:cNvPr id="6" name="Picture 5" descr="fig02_multi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669280" cy="30701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C4E8"/>
                </a:solidFill>
              </a:rPr>
              <a:t>문제 발견 (기존 벤치마크의 함정)</a:t>
            </a:r>
          </a:p>
          <a:p>
            <a:pPr algn="l"/>
            <a:r>
              <a:rPr sz="2700" b="1">
                <a:solidFill>
                  <a:srgbClr val="FFFFFF"/>
                </a:solidFill>
              </a:rPr>
              <a:t>필터·정답·문서가 같은 라벨에서 나오면 결과가 '보장'된다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011680" cy="640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900" b="1">
                <a:solidFill>
                  <a:srgbClr val="222222"/>
                </a:solidFill>
              </a:rPr>
              <a:t>•  라벨 풍부한 공개 데이터셋으로 워크로드를 짜면 흔히 발생하는 함정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5A5A5A"/>
                </a:solidFill>
              </a:rPr>
              <a:t>–  필터 조건 ⊆ 정답  →  필터가 벡터 검색을 이기는 것이 '구성상 보장'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5A5A5A"/>
                </a:solidFill>
              </a:rPr>
              <a:t>–  라벨을 재진술한 문서 →  어휘 매칭만으로 완벽 지표(MRR=nDCG=1.0)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</a:rPr>
              <a:t>•  = 순환성(circularity). 검색을 잘해서가 아니라 답을 베낀 것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5A5A5A"/>
                </a:solidFill>
              </a:rPr>
              <a:t>–  이 상태에서 어떤 구조가 좋은지 비교하면 결론이 오염된다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C4E8"/>
                </a:solidFill>
              </a:rPr>
              <a:t>문제의 정량 확인</a:t>
            </a:r>
          </a:p>
          <a:p>
            <a:pPr algn="l"/>
            <a:r>
              <a:rPr sz="2700" b="1">
                <a:solidFill>
                  <a:srgbClr val="FFFFFF"/>
                </a:solidFill>
              </a:rPr>
              <a:t>순환 워크로드를 '수리'하면 완벽 지표가 무너진다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011680" cy="640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37360"/>
          <a:ext cx="107899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워크로드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수리 전(순환)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수리 후(비순환)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A"/>
                          </a:solidFill>
                        </a:rPr>
                        <a:t>VRU 사고영상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B4 nDCG@10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0.97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0.32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A"/>
                          </a:solidFill>
                        </a:rPr>
                        <a:t>지능형 CCTV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BM25 nDCG@10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A"/>
                          </a:solidFill>
                        </a:rPr>
                        <a:t>522 교차로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semantic 부호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(음수 불가능)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음수 등장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2062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</a:rPr>
              <a:t>•  완벽 지표는 성능이 아니라 '경고 신호'였다 — 그래서 평가 체계부터 바로잡는다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E74B5"/>
                </a:solidFill>
              </a:rPr>
              <a:t>PART 2</a:t>
            </a:r>
          </a:p>
          <a:p>
            <a:pPr algn="l"/>
            <a:r>
              <a:rPr sz="3200" b="1">
                <a:solidFill>
                  <a:srgbClr val="1B2A4A"/>
                </a:solidFill>
              </a:rPr>
              <a:t>실험 설정: 데이터셋과 워크로드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C4E8"/>
                </a:solidFill>
              </a:rPr>
              <a:t>해법</a:t>
            </a:r>
          </a:p>
          <a:p>
            <a:pPr algn="l"/>
            <a:r>
              <a:rPr sz="2700" b="1">
                <a:solidFill>
                  <a:srgbClr val="FFFFFF"/>
                </a:solidFill>
              </a:rPr>
              <a:t>세 채널을 서로 다른 출처로 분리한다 (비순환 tri-source)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011680" cy="640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37360"/>
          <a:ext cx="107899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채널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무엇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출처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쓰임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A"/>
                          </a:solidFill>
                        </a:rPr>
                        <a:t>PREDICATE(필터)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시간·위치·신호·밀도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센서 기록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조건으로 거르기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A"/>
                          </a:solidFill>
                        </a:rPr>
                        <a:t>RELEVANCE(정답)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정차·주차 등 장면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사람 주석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채점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A"/>
                          </a:solidFill>
                        </a:rPr>
                        <a:t>DOCUMENT(문서)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장면 설명 문장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VLM 캡션(픽셀만)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검색 대상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2976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</a:rPr>
              <a:t>•  세 출처가 다르므로 '진짜 검색을 잘했는지' 공정하게 잴 수 있다 (A6 기계감사 통과)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C4E8"/>
                </a:solidFill>
              </a:rPr>
              <a:t>확보한 데이터셋</a:t>
            </a:r>
          </a:p>
          <a:p>
            <a:pPr algn="l"/>
            <a:r>
              <a:rPr sz="2700" b="1">
                <a:solidFill>
                  <a:srgbClr val="FFFFFF"/>
                </a:solidFill>
              </a:rPr>
              <a:t>국내 522를 중심으로, 해외·타도메인으로 교차검증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011680" cy="640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37360"/>
          <a:ext cx="10789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데이터셋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쓰임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A"/>
                          </a:solidFill>
                        </a:rPr>
                        <a:t>메인 헤드라인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AI-Hub 522 교차로 CCTV (63교차로·32,880클립)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비순환 tri-source 검색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A"/>
                          </a:solidFill>
                        </a:rPr>
                        <a:t>색인 코퍼스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시내도로 132K + 522-visual 143K (CLIP 512d)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색인·filtered-ANN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A"/>
                          </a:solidFill>
                        </a:rPr>
                        <a:t>외적타당성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MEVA(검색) · MIRIS(색인) · UCA(검색)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국제·타도메인 재현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A"/>
                          </a:solidFill>
                        </a:rPr>
                        <a:t>붕괴 데모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VRU · 지능형 CCTV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순환→수리 붕괴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C4E8"/>
                </a:solidFill>
              </a:rPr>
              <a:t>워크로드 동작 흐름</a:t>
            </a:r>
          </a:p>
          <a:p>
            <a:pPr algn="l"/>
            <a:r>
              <a:rPr sz="2700" b="1">
                <a:solidFill>
                  <a:srgbClr val="FFFFFF"/>
                </a:solidFill>
              </a:rPr>
              <a:t>클립 하나가 저장·색인·검색되기까지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011680" cy="640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760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222222"/>
                </a:solidFill>
              </a:rPr>
              <a:t>•  ① 클립에서 3정보 추출: 캡션(문서)·센서(조건)·주석(정답)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222222"/>
                </a:solidFill>
              </a:rPr>
              <a:t>•  ② 저장: 캡션을 임베딩(숫자 벡터)으로 바꿔 조건·정답과 함께 DB에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222222"/>
                </a:solidFill>
              </a:rPr>
              <a:t>•  ③ 색인: 비슷한 벡터끼리 묶은 '지도'를 만들어 빠른 검색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222222"/>
                </a:solidFill>
              </a:rPr>
              <a:t>•  ④ 검색: 조건으로 거르고 → 질의 벡터로 상위 K개 → 정답표로 채점</a:t>
            </a:r>
          </a:p>
        </p:txBody>
      </p:sp>
      <p:pic>
        <p:nvPicPr>
          <p:cNvPr id="6" name="Picture 5" descr="fig05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669280" cy="28792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E74B5"/>
                </a:solidFill>
              </a:rPr>
              <a:t>PART 3</a:t>
            </a:r>
          </a:p>
          <a:p>
            <a:pPr algn="l"/>
            <a:r>
              <a:rPr sz="3200" b="1">
                <a:solidFill>
                  <a:srgbClr val="1B2A4A"/>
                </a:solidFill>
              </a:rPr>
              <a:t>방법론: 설계공간을 변수화한 파이프라인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C4E8"/>
                </a:solidFill>
              </a:rPr>
              <a:t>방법론</a:t>
            </a:r>
          </a:p>
          <a:p>
            <a:pPr algn="l"/>
            <a:r>
              <a:rPr sz="2700" b="1">
                <a:solidFill>
                  <a:srgbClr val="FFFFFF"/>
                </a:solidFill>
              </a:rPr>
              <a:t>저장·색인·필터·배포의 선택지를 변수화해 통제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011680" cy="640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9164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설계 축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변수화한 선택지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A"/>
                          </a:solidFill>
                        </a:rPr>
                        <a:t>검색 전략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metadata / BM25 / vector / postfilter / prefilter / hybrid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A"/>
                          </a:solidFill>
                        </a:rPr>
                        <a:t>저장 단위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clip-caption / frame-vector / multi-vector / dual-index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A"/>
                          </a:solidFill>
                        </a:rPr>
                        <a:t>색인 구조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Flat / IVF-Flat / HNSW / IVF-PQ (1만→1M 스케일)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A"/>
                          </a:solidFill>
                        </a:rPr>
                        <a:t>필터 결합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prefilter / postfilter / 무작위-마스크 대조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A"/>
                          </a:solidFill>
                        </a:rPr>
                        <a:t>관계형 구현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pgvector / Milvus / Weaviate · global vs partial index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A"/>
                          </a:solidFill>
                        </a:rPr>
                        <a:t>배포 정책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hot/cold 손익분기 N*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806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1B2A4A"/>
                </a:solidFill>
              </a:rPr>
              <a:t>•  동일 질의·정답·지표(nDCG@10·recall·MRR + 격리 지연 + 저장공간)로 비교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E74B5"/>
                </a:solidFill>
              </a:rPr>
              <a:t>PART 4</a:t>
            </a:r>
          </a:p>
          <a:p>
            <a:pPr algn="l"/>
            <a:r>
              <a:rPr sz="3200" b="1">
                <a:solidFill>
                  <a:srgbClr val="1B2A4A"/>
                </a:solidFill>
              </a:rPr>
              <a:t>실험 결과와 결론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C4E8"/>
                </a:solidFill>
              </a:rPr>
              <a:t>결과 ① 검색</a:t>
            </a:r>
          </a:p>
          <a:p>
            <a:pPr algn="l"/>
            <a:r>
              <a:rPr sz="2700" b="1">
                <a:solidFill>
                  <a:srgbClr val="FFFFFF"/>
                </a:solidFill>
              </a:rPr>
              <a:t>필터의 가치는 '조건의 성격'이 결정한다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011680" cy="640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</a:rPr>
              <a:t>•  하드 제약(반드시 만족): prefilter가 유의하게 이득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5A5A5A"/>
                </a:solidFill>
              </a:rPr>
              <a:t>–  522 strict  B4−B2 = +0.098  (95% CI [0.068, 0.133])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5A5A5A"/>
                </a:solidFill>
              </a:rPr>
              <a:t>–  MEVA에서 독립 재현  = +0.093  (CI [0.075, 0.113])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</a:rPr>
              <a:t>•  소프트 의도(느슨): 결합도에 따라 부호가 갈림 (탐색적)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700" b="0">
                <a:solidFill>
                  <a:srgbClr val="5A5A5A"/>
                </a:solidFill>
              </a:rPr>
              <a:t>–  독립 조건이면 오히려 관련 문서를 깎아 손해가 날 수 있음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C4E8"/>
                </a:solidFill>
              </a:rPr>
              <a:t>결과 ② 색인 위 필터</a:t>
            </a:r>
          </a:p>
          <a:p>
            <a:pPr algn="l"/>
            <a:r>
              <a:rPr sz="2700" b="1">
                <a:solidFill>
                  <a:srgbClr val="FFFFFF"/>
                </a:solidFill>
              </a:rPr>
              <a:t>공유 색인 postfilter는 재현율을 과대평가한다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011680" cy="640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selectivity_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766560" cy="2592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645920"/>
            <a:ext cx="4297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</a:rPr>
              <a:t>•  실제 predicate는 '군집'한다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</a:rPr>
              <a:t>–  무작위 마스크 대비 재현율 최대 +0.63 과대평가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</a:rPr>
              <a:t>–  pgvector에서도 같은 기전 재현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</a:rPr>
              <a:t>•  → 선택적 필터엔 partial/local index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C4E8"/>
                </a:solidFill>
              </a:rPr>
              <a:t>결과 ③ 색인 구조</a:t>
            </a:r>
          </a:p>
          <a:p>
            <a:pPr algn="l"/>
            <a:r>
              <a:rPr sz="2700" b="1">
                <a:solidFill>
                  <a:srgbClr val="FFFFFF"/>
                </a:solidFill>
              </a:rPr>
              <a:t>HNSW가 지연-정확도 전선을 지배, PQ는 저장 극한용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011680" cy="640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index_structure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766560" cy="2657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645920"/>
            <a:ext cx="4297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</a:rPr>
              <a:t>•  143K 실측 (정확도·지연·저장 3축)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</a:rPr>
              <a:t>–  HNSW: 재현율 0.99+, 지연 ~상수(≈300× 이득)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</a:rPr>
              <a:t>–  IVF-PQ: 22–35× 압축, 대신 재현율↓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</a:rPr>
              <a:t>–  Flat: 소규모만, 이상은 선형 증가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C4E8"/>
                </a:solidFill>
              </a:rPr>
              <a:t>결과 ④ 저장 단위 · 부분 색인 · 배포</a:t>
            </a:r>
          </a:p>
          <a:p>
            <a:pPr algn="l"/>
            <a:r>
              <a:rPr sz="2700" b="1">
                <a:solidFill>
                  <a:srgbClr val="FFFFFF"/>
                </a:solidFill>
              </a:rPr>
              <a:t>데이터셋에 따라 최적 저장이 다르고, 선택적 필터엔 partial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011680" cy="640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1B2A4A"/>
                </a:solidFill>
              </a:rPr>
              <a:t>•  저장 단위 = 캡션-질의 정합에 의존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5A5A5A"/>
                </a:solidFill>
              </a:rPr>
              <a:t>–  522: clip-caption 최적 / MEVA: frame-vector 지배 / multi·dual 무익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1B2A4A"/>
                </a:solidFill>
              </a:rPr>
              <a:t>•  partial/local index가 선택적 조건에서 global을 지배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5A5A5A"/>
                </a:solidFill>
              </a:rPr>
              <a:t>–  공간(카메라) 조건: global 재현율 0.49 붕괴 vs partial 0.99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500" b="0">
                <a:solidFill>
                  <a:srgbClr val="5A5A5A"/>
                </a:solidFill>
              </a:rPr>
              <a:t>–  시간 조건: global 8.1ms vs partial 0.4ms — 둘 다 partial이 안정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1B2A4A"/>
                </a:solidFill>
              </a:rPr>
              <a:t>•  배포 규칙: recall&lt;0.95 또는 질의&gt;N* → 지역 색인 (MIRIS 재현)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C4E8"/>
                </a:solidFill>
              </a:rPr>
              <a:t>결과 ⑤ 외적 타당성</a:t>
            </a:r>
          </a:p>
          <a:p>
            <a:pPr algn="l"/>
            <a:r>
              <a:rPr sz="2700" b="1">
                <a:solidFill>
                  <a:srgbClr val="FFFFFF"/>
                </a:solidFill>
              </a:rPr>
              <a:t>국내 522의 발견이 해외·타도메인에서 재현된다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011680" cy="640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37360"/>
          <a:ext cx="107899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데이터셋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학회/도메인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재현된 발견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A"/>
                          </a:solidFill>
                        </a:rPr>
                        <a:t>MEVA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WACV·해외 CCTV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하드 prefilter 이득 + 캡션 검색 한계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A"/>
                          </a:solidFill>
                        </a:rPr>
                        <a:t>MIRIS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SIGMOD·교통 영상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선택적 조건서 partial index 우위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A"/>
                          </a:solidFill>
                        </a:rPr>
                        <a:t>UCA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영어·이상행동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이중 정답 + 소프트 필터 손해 방향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C4E8"/>
                </a:solidFill>
              </a:rPr>
              <a:t>결론</a:t>
            </a:r>
          </a:p>
          <a:p>
            <a:pPr algn="l"/>
            <a:r>
              <a:rPr sz="2700" b="1">
                <a:solidFill>
                  <a:srgbClr val="FFFFFF"/>
                </a:solidFill>
              </a:rPr>
              <a:t>구조 선택은 '타당성'과 '결합도' 위에서 평가되어야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011680" cy="640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900" b="1">
                <a:solidFill>
                  <a:srgbClr val="222222"/>
                </a:solidFill>
              </a:rPr>
              <a:t>•  ① 완벽 지표는 경고 신호 — 워크로드의 비순환성부터 기계 감사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900" b="1">
                <a:solidFill>
                  <a:srgbClr val="222222"/>
                </a:solidFill>
              </a:rPr>
              <a:t>•  ② 필터의 가치는 조건의 경성 × predicate-정답 결합도가 결정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900" b="1">
                <a:solidFill>
                  <a:srgbClr val="222222"/>
                </a:solidFill>
              </a:rPr>
              <a:t>•  ③ 저장→색인→필터→배포 설계공간에 데이터셋-의존적 최적점이 있다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900" b="1">
                <a:solidFill>
                  <a:srgbClr val="222222"/>
                </a:solidFill>
              </a:rPr>
              <a:t>•  ④ 선택적 필터엔 partial index, HNSW가 색인 전선을 지배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</a:rPr>
              <a:t>•  → 국내 522 + 해외 MEVA·MIRIS·영어 UCA로 교차 재현 (외적타당성)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